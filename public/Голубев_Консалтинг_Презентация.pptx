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lubev-consulting.ru" TargetMode="External"/><Relationship Id="rId1" Type="http://schemas.openxmlformats.org/officeDocument/2006/relationships/image" Target="../media/image-11-1.jpe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-731520"/>
            <a:ext cx="3657600" cy="3657600"/>
          </a:xfrm>
          <a:prstGeom prst="ellipse">
            <a:avLst/>
          </a:prstGeom>
          <a:solidFill>
            <a:srgbClr val="1E90FF">
              <a:alpha val="12000"/>
            </a:srgbClr>
          </a:solidFill>
          <a:ln w="12700">
            <a:solidFill>
              <a:srgbClr val="1E90FF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0" y="2286000"/>
            <a:ext cx="2560320" cy="2560320"/>
          </a:xfrm>
          <a:prstGeom prst="ellipse">
            <a:avLst/>
          </a:prstGeom>
          <a:solidFill>
            <a:srgbClr val="1E90FF">
              <a:alpha val="8000"/>
            </a:srgbClr>
          </a:solidFill>
          <a:ln w="12700">
            <a:solidFill>
              <a:srgbClr val="1E90FF">
                <a:alpha val="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303520" y="54864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79008" y="54864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54496" y="54864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729984" y="54864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05472" y="54864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0" y="54864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56448" y="54864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31936" y="54864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0" y="137160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79008" y="137160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54496" y="137160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9984" y="137160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05472" y="137160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80960" y="137160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56448" y="137160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31936" y="137160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0" y="219456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9008" y="219456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54496" y="219456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29984" y="219456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05472" y="219456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219456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6448" y="219456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31936" y="219456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0" y="301752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79008" y="301752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54496" y="301752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29984" y="301752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05472" y="301752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80960" y="301752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156448" y="301752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31936" y="301752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03520" y="384048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779008" y="384048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54496" y="384048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729984" y="384048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205472" y="384048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680960" y="384048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56448" y="384048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631936" y="3840480"/>
            <a:ext cx="45720" cy="45720"/>
          </a:xfrm>
          <a:prstGeom prst="ellipse">
            <a:avLst/>
          </a:prstGeom>
          <a:solidFill>
            <a:srgbClr val="1E90FF">
              <a:alpha val="30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4048" y="594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ГОЛУБЕВ КОНСАЛТИНГ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84048" y="105156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Ваш бизнес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может расти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быстрее</a:t>
            </a:r>
            <a:endParaRPr lang="en-US" sz="5200" dirty="0"/>
          </a:p>
        </p:txBody>
      </p:sp>
      <p:sp>
        <p:nvSpPr>
          <p:cNvPr id="47" name="Text 45"/>
          <p:cNvSpPr/>
          <p:nvPr/>
        </p:nvSpPr>
        <p:spPr>
          <a:xfrm>
            <a:off x="384048" y="354787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Системный консалтинг для малого и среднего бизнеса.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· Процессы · Маркетинг · Управление · Автоматизация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84048" y="4315968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384048" y="43159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Получить консультацию →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0" y="731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90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12+</a:t>
            </a:r>
            <a:endParaRPr lang="en-US" sz="4000" dirty="0"/>
          </a:p>
        </p:txBody>
      </p:sp>
      <p:sp>
        <p:nvSpPr>
          <p:cNvPr id="52" name="Text 50"/>
          <p:cNvSpPr/>
          <p:nvPr/>
        </p:nvSpPr>
        <p:spPr>
          <a:xfrm>
            <a:off x="658368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лет опыта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583680" y="1719072"/>
            <a:ext cx="2286000" cy="0"/>
          </a:xfrm>
          <a:prstGeom prst="line">
            <a:avLst/>
          </a:prstGeom>
          <a:noFill/>
          <a:ln w="12700">
            <a:solidFill>
              <a:srgbClr val="11234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8368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90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150+</a:t>
            </a:r>
            <a:endParaRPr lang="en-US" sz="4000" dirty="0"/>
          </a:p>
        </p:txBody>
      </p:sp>
      <p:sp>
        <p:nvSpPr>
          <p:cNvPr id="55" name="Text 53"/>
          <p:cNvSpPr/>
          <p:nvPr/>
        </p:nvSpPr>
        <p:spPr>
          <a:xfrm>
            <a:off x="6583680" y="23957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успешных проектов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583680" y="2816352"/>
            <a:ext cx="2286000" cy="0"/>
          </a:xfrm>
          <a:prstGeom prst="line">
            <a:avLst/>
          </a:prstGeom>
          <a:noFill/>
          <a:ln w="12700">
            <a:solidFill>
              <a:srgbClr val="11234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83680" y="2926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90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87</a:t>
            </a:r>
            <a:endParaRPr lang="en-US" sz="4000" dirty="0"/>
          </a:p>
        </p:txBody>
      </p:sp>
      <p:sp>
        <p:nvSpPr>
          <p:cNvPr id="58" name="Text 56"/>
          <p:cNvSpPr/>
          <p:nvPr/>
        </p:nvSpPr>
        <p:spPr>
          <a:xfrm>
            <a:off x="6583680" y="34930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компаний-клиентов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6583680" y="3913632"/>
            <a:ext cx="2286000" cy="0"/>
          </a:xfrm>
          <a:prstGeom prst="line">
            <a:avLst/>
          </a:prstGeom>
          <a:noFill/>
          <a:ln w="12700">
            <a:solidFill>
              <a:srgbClr val="11234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83680" y="4023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90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4000" dirty="0"/>
          </a:p>
        </p:txBody>
      </p:sp>
      <p:sp>
        <p:nvSpPr>
          <p:cNvPr id="61" name="Text 59"/>
          <p:cNvSpPr/>
          <p:nvPr/>
        </p:nvSpPr>
        <p:spPr>
          <a:xfrm>
            <a:off x="6583680" y="459028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направлений консалтинга</a:t>
            </a:r>
            <a:endParaRPr lang="en-US" sz="1100" dirty="0"/>
          </a:p>
        </p:txBody>
      </p:sp>
      <p:pic>
        <p:nvPicPr>
          <p:cNvPr id="6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09728"/>
            <a:ext cx="1371600" cy="7680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64592"/>
            <a:ext cx="749808" cy="42062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256032" y="320040"/>
            <a:ext cx="45720" cy="384048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1480" y="164592"/>
            <a:ext cx="3246120" cy="481888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11480" y="3474720"/>
            <a:ext cx="3246120" cy="1508760"/>
          </a:xfrm>
          <a:prstGeom prst="rect">
            <a:avLst/>
          </a:prstGeom>
          <a:solidFill>
            <a:srgbClr val="000000">
              <a:alpha val="70000"/>
            </a:srgbClr>
          </a:solidFill>
          <a:ln w="12700">
            <a:solidFill>
              <a:srgbClr val="000000">
                <a:alpha val="7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48640" y="3703320"/>
            <a:ext cx="2926080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81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Артур Голубев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48640" y="41330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Основатель · Голубев Консалтинг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4114800" y="3474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ЛИЧНО О НАС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4114800" y="65836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Почему мы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добиваемся результата</a:t>
            </a:r>
            <a:endParaRPr lang="en-US" sz="2600" dirty="0"/>
          </a:p>
        </p:txBody>
      </p:sp>
      <p:sp>
        <p:nvSpPr>
          <p:cNvPr id="12" name="Shape 8"/>
          <p:cNvSpPr/>
          <p:nvPr/>
        </p:nvSpPr>
        <p:spPr>
          <a:xfrm>
            <a:off x="4114800" y="1691640"/>
            <a:ext cx="54864" cy="192024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51960" y="1719072"/>
            <a:ext cx="4526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12 лет я помог более 150 компаниям выйти из операционного тупика и начать расти системно.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Мой принцип прост: я не продаю красивые презентации — я остаюсь рядом до тех пор, пока бизнес не заработает так, как должен.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i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вы читаете этот документ — значит, вы уже сделали первый шаг.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114800" y="3858768"/>
            <a:ext cx="1371600" cy="91440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396849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39319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Опыт с 2012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года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5623560" y="3858768"/>
            <a:ext cx="1371600" cy="91440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39684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080760" y="39319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результата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7132320" y="3858768"/>
            <a:ext cx="1371600" cy="91440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0" y="3968496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589520" y="39319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клиентов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64592"/>
            <a:ext cx="749808" cy="4206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84048" y="3474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84048" y="685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Знакомо?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384048" y="1481328"/>
            <a:ext cx="4114800" cy="77724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48640" y="157276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Выручка растёт, а прибыль — нет. Непонятно почему.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800600" y="1481328"/>
            <a:ext cx="4114800" cy="77724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965192" y="157276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зависят от 1-2 человек. Ушли — бизнес встал.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84048" y="2441448"/>
            <a:ext cx="4114800" cy="77724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48640" y="253288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Процессы в головах сотрудников, регламентов нет.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800600" y="2441448"/>
            <a:ext cx="4114800" cy="77724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965192" y="253288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 тратит деньги, но непонятно откуда приходят клиенты.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84048" y="3401568"/>
            <a:ext cx="4114800" cy="77724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48640" y="349300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 работаете 12 часов в сутки, а бизнес без вас не живёт.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800600" y="3401568"/>
            <a:ext cx="4114800" cy="77724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965192" y="349300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Текучка кадров не даёт выстроить сильную команду.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84048" y="4617720"/>
            <a:ext cx="8375904" cy="347472"/>
          </a:xfrm>
          <a:prstGeom prst="rect">
            <a:avLst/>
          </a:prstGeom>
          <a:solidFill>
            <a:srgbClr val="1E90FF">
              <a:alpha val="15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84048" y="4617720"/>
            <a:ext cx="8375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не случайность — это отсутствие системы. Мы её выстраиваем.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64592"/>
            <a:ext cx="749808" cy="4206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84048" y="2560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 НАС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84048" y="566928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Практики,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не теоретики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384048" y="157276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с опытом в реальном бизнесе. Мы не даём рекомендации в PDF — мы внедряем решения и стоим рядом до результата.</a:t>
            </a:r>
            <a:endParaRPr lang="en-US" sz="11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2331720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лет опыта в консалтинге МСБ</a:t>
            </a:r>
            <a:endParaRPr lang="en-US" sz="11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2761488"/>
            <a:ext cx="182880" cy="1828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40080" y="273405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150+ реализованных проектов в России и СНГ</a:t>
            </a:r>
            <a:endParaRPr lang="en-US" sz="11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3191256"/>
            <a:ext cx="182880" cy="1828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40080" y="316382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направлений: продажи, CRM, процессы, маркетинг, управление, автоматизация, HR, юридические и финансовые вопросы</a:t>
            </a:r>
            <a:endParaRPr lang="en-US" sz="11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3621024"/>
            <a:ext cx="182880" cy="18288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640080" y="359359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Работаем «под ключ» — от диагностики до внедрения</a:t>
            </a:r>
            <a:endParaRPr lang="en-US" sz="1100" dirty="0"/>
          </a:p>
        </p:txBody>
      </p:sp>
      <p:sp>
        <p:nvSpPr>
          <p:cNvPr id="15" name="Shape 8"/>
          <p:cNvSpPr/>
          <p:nvPr/>
        </p:nvSpPr>
        <p:spPr>
          <a:xfrm>
            <a:off x="5852160" y="182880"/>
            <a:ext cx="2971800" cy="466344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989320" y="292608"/>
            <a:ext cx="2697480" cy="3017520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5852160" y="182880"/>
            <a:ext cx="2971800" cy="548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5989320" y="3401568"/>
            <a:ext cx="2697480" cy="0"/>
          </a:xfrm>
          <a:prstGeom prst="line">
            <a:avLst/>
          </a:prstGeom>
          <a:noFill/>
          <a:ln w="12700">
            <a:solidFill>
              <a:srgbClr val="1A3058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5989320" y="34747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Артур Голубев</a:t>
            </a:r>
            <a:endParaRPr lang="en-US" sz="1500" dirty="0"/>
          </a:p>
        </p:txBody>
      </p:sp>
      <p:sp>
        <p:nvSpPr>
          <p:cNvPr id="20" name="Text 12"/>
          <p:cNvSpPr/>
          <p:nvPr/>
        </p:nvSpPr>
        <p:spPr>
          <a:xfrm>
            <a:off x="5989320" y="384048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Основатель · 12+ лет в консалтинге</a:t>
            </a:r>
            <a:endParaRPr lang="en-US" sz="900" dirty="0"/>
          </a:p>
        </p:txBody>
      </p:sp>
      <p:sp>
        <p:nvSpPr>
          <p:cNvPr id="21" name="Text 13"/>
          <p:cNvSpPr/>
          <p:nvPr/>
        </p:nvSpPr>
        <p:spPr>
          <a:xfrm>
            <a:off x="5989320" y="41605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90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150+</a:t>
            </a:r>
            <a:endParaRPr lang="en-US" sz="1800" dirty="0"/>
          </a:p>
        </p:txBody>
      </p:sp>
      <p:sp>
        <p:nvSpPr>
          <p:cNvPr id="22" name="Text 14"/>
          <p:cNvSpPr/>
          <p:nvPr/>
        </p:nvSpPr>
        <p:spPr>
          <a:xfrm>
            <a:off x="5989320" y="45354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проектов</a:t>
            </a:r>
            <a:endParaRPr lang="en-US" sz="800" dirty="0"/>
          </a:p>
        </p:txBody>
      </p:sp>
      <p:sp>
        <p:nvSpPr>
          <p:cNvPr id="23" name="Text 15"/>
          <p:cNvSpPr/>
          <p:nvPr/>
        </p:nvSpPr>
        <p:spPr>
          <a:xfrm>
            <a:off x="6885432" y="41605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90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87</a:t>
            </a:r>
            <a:endParaRPr lang="en-US" sz="1800" dirty="0"/>
          </a:p>
        </p:txBody>
      </p:sp>
      <p:sp>
        <p:nvSpPr>
          <p:cNvPr id="24" name="Text 16"/>
          <p:cNvSpPr/>
          <p:nvPr/>
        </p:nvSpPr>
        <p:spPr>
          <a:xfrm>
            <a:off x="6885432" y="45354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клиентов</a:t>
            </a:r>
            <a:endParaRPr lang="en-US" sz="800" dirty="0"/>
          </a:p>
        </p:txBody>
      </p:sp>
      <p:sp>
        <p:nvSpPr>
          <p:cNvPr id="25" name="Text 17"/>
          <p:cNvSpPr/>
          <p:nvPr/>
        </p:nvSpPr>
        <p:spPr>
          <a:xfrm>
            <a:off x="7781544" y="41605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90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</a:t>
            </a:r>
            <a:endParaRPr lang="en-US" sz="1800" dirty="0"/>
          </a:p>
        </p:txBody>
      </p:sp>
      <p:sp>
        <p:nvSpPr>
          <p:cNvPr id="26" name="Text 18"/>
          <p:cNvSpPr/>
          <p:nvPr/>
        </p:nvSpPr>
        <p:spPr>
          <a:xfrm>
            <a:off x="7781544" y="453542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направлений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64592"/>
            <a:ext cx="749808" cy="4206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84048" y="182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УСЛУГИ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84048" y="4572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Полный спектр консалтинга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192024" y="1024128"/>
            <a:ext cx="2121408" cy="173736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92024" y="1024128"/>
            <a:ext cx="2121408" cy="4572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61288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67512" y="1143000"/>
            <a:ext cx="1572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Продажи и CRM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320040" y="1536192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Аудит, воронки, скрипты, CRM, KPI и мотивация команды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320040" y="2441448"/>
            <a:ext cx="1901952" cy="219456"/>
          </a:xfrm>
          <a:prstGeom prst="rect">
            <a:avLst/>
          </a:prstGeom>
          <a:solidFill>
            <a:srgbClr val="1E90FF">
              <a:alpha val="15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20040" y="244144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+35-50% конверсии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2551176" y="1024128"/>
            <a:ext cx="2121408" cy="173736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2551176" y="1024128"/>
            <a:ext cx="2121408" cy="4572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9192" y="116128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26664" y="1143000"/>
            <a:ext cx="1572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 CRM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2679192" y="1536192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настроек, воронок, автоматизаций, потерь данных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2679192" y="2441448"/>
            <a:ext cx="1901952" cy="219456"/>
          </a:xfrm>
          <a:prstGeom prst="rect">
            <a:avLst/>
          </a:prstGeom>
          <a:solidFill>
            <a:srgbClr val="1E90FF">
              <a:alpha val="15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2679192" y="244144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Прозрачность продаж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910328" y="1024128"/>
            <a:ext cx="2121408" cy="173736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910328" y="1024128"/>
            <a:ext cx="2121408" cy="4572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344" y="1161288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85816" y="1143000"/>
            <a:ext cx="1572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Бизнес-процессы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038344" y="1536192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Описание, оптимизация, регламенты и контроль качества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>
            <a:off x="5038344" y="2441448"/>
            <a:ext cx="1901952" cy="219456"/>
          </a:xfrm>
          <a:prstGeom prst="rect">
            <a:avLst/>
          </a:prstGeom>
          <a:solidFill>
            <a:srgbClr val="1E90FF">
              <a:alpha val="15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5038344" y="244144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-43% потерь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7269480" y="1024128"/>
            <a:ext cx="2121408" cy="173736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7269480" y="1024128"/>
            <a:ext cx="2121408" cy="4572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7496" y="1161288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744968" y="1143000"/>
            <a:ext cx="1572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</a:t>
            </a:r>
            <a:endParaRPr lang="en-US" sz="1050" dirty="0"/>
          </a:p>
        </p:txBody>
      </p:sp>
      <p:sp>
        <p:nvSpPr>
          <p:cNvPr id="31" name="Text 24"/>
          <p:cNvSpPr/>
          <p:nvPr/>
        </p:nvSpPr>
        <p:spPr>
          <a:xfrm>
            <a:off x="7397496" y="1536192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Стратегия, аналитика, позиционирование, рекламные каналы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7397496" y="2441448"/>
            <a:ext cx="1901952" cy="219456"/>
          </a:xfrm>
          <a:prstGeom prst="rect">
            <a:avLst/>
          </a:prstGeom>
          <a:solidFill>
            <a:srgbClr val="1E90FF">
              <a:alpha val="15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7397496" y="244144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×3 ROI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585216" y="2944368"/>
            <a:ext cx="2121408" cy="173736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585216" y="2944368"/>
            <a:ext cx="2121408" cy="4572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081528"/>
            <a:ext cx="274320" cy="27432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060704" y="3063240"/>
            <a:ext cx="1572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</a:t>
            </a:r>
            <a:endParaRPr lang="en-US" sz="1050" dirty="0"/>
          </a:p>
        </p:txBody>
      </p:sp>
      <p:sp>
        <p:nvSpPr>
          <p:cNvPr id="38" name="Text 30"/>
          <p:cNvSpPr/>
          <p:nvPr/>
        </p:nvSpPr>
        <p:spPr>
          <a:xfrm>
            <a:off x="713232" y="3456432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CRM, ERP, боты, интеграции — устранение ручного труда</a:t>
            </a:r>
            <a:endParaRPr lang="en-US" sz="900" dirty="0"/>
          </a:p>
        </p:txBody>
      </p:sp>
      <p:sp>
        <p:nvSpPr>
          <p:cNvPr id="39" name="Shape 31"/>
          <p:cNvSpPr/>
          <p:nvPr/>
        </p:nvSpPr>
        <p:spPr>
          <a:xfrm>
            <a:off x="713232" y="4361688"/>
            <a:ext cx="1901952" cy="219456"/>
          </a:xfrm>
          <a:prstGeom prst="rect">
            <a:avLst/>
          </a:prstGeom>
          <a:solidFill>
            <a:srgbClr val="1E90FF">
              <a:alpha val="15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13232" y="436168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-60% рутины</a:t>
            </a:r>
            <a:endParaRPr lang="en-US" sz="900" dirty="0"/>
          </a:p>
        </p:txBody>
      </p:sp>
      <p:sp>
        <p:nvSpPr>
          <p:cNvPr id="41" name="Shape 33"/>
          <p:cNvSpPr/>
          <p:nvPr/>
        </p:nvSpPr>
        <p:spPr>
          <a:xfrm>
            <a:off x="3310128" y="2944368"/>
            <a:ext cx="2121408" cy="173736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42" name="Shape 34"/>
          <p:cNvSpPr/>
          <p:nvPr/>
        </p:nvSpPr>
        <p:spPr>
          <a:xfrm>
            <a:off x="3310128" y="2944368"/>
            <a:ext cx="2121408" cy="4572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8144" y="3081528"/>
            <a:ext cx="274320" cy="274320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3785616" y="3063240"/>
            <a:ext cx="1572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и персонал</a:t>
            </a:r>
            <a:endParaRPr lang="en-US" sz="1050" dirty="0"/>
          </a:p>
        </p:txBody>
      </p:sp>
      <p:sp>
        <p:nvSpPr>
          <p:cNvPr id="45" name="Text 36"/>
          <p:cNvSpPr/>
          <p:nvPr/>
        </p:nvSpPr>
        <p:spPr>
          <a:xfrm>
            <a:off x="3438144" y="3456432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Найм, адаптация, обучение, оценка и удержание команды</a:t>
            </a:r>
            <a:endParaRPr lang="en-US" sz="900" dirty="0"/>
          </a:p>
        </p:txBody>
      </p:sp>
      <p:sp>
        <p:nvSpPr>
          <p:cNvPr id="46" name="Shape 37"/>
          <p:cNvSpPr/>
          <p:nvPr/>
        </p:nvSpPr>
        <p:spPr>
          <a:xfrm>
            <a:off x="3438144" y="4361688"/>
            <a:ext cx="1901952" cy="219456"/>
          </a:xfrm>
          <a:prstGeom prst="rect">
            <a:avLst/>
          </a:prstGeom>
          <a:solidFill>
            <a:srgbClr val="1E90FF">
              <a:alpha val="15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3438144" y="436168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-40% текучки</a:t>
            </a:r>
            <a:endParaRPr lang="en-US" sz="900" dirty="0"/>
          </a:p>
        </p:txBody>
      </p:sp>
      <p:sp>
        <p:nvSpPr>
          <p:cNvPr id="48" name="Shape 39"/>
          <p:cNvSpPr/>
          <p:nvPr/>
        </p:nvSpPr>
        <p:spPr>
          <a:xfrm>
            <a:off x="6035040" y="2944368"/>
            <a:ext cx="2121408" cy="173736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49" name="Shape 40"/>
          <p:cNvSpPr/>
          <p:nvPr/>
        </p:nvSpPr>
        <p:spPr>
          <a:xfrm>
            <a:off x="6035040" y="2944368"/>
            <a:ext cx="2121408" cy="4572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63056" y="3081528"/>
            <a:ext cx="274320" cy="274320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6510528" y="3063240"/>
            <a:ext cx="1572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и стратегия</a:t>
            </a:r>
            <a:endParaRPr lang="en-US" sz="1050" dirty="0"/>
          </a:p>
        </p:txBody>
      </p:sp>
      <p:sp>
        <p:nvSpPr>
          <p:cNvPr id="52" name="Text 42"/>
          <p:cNvSpPr/>
          <p:nvPr/>
        </p:nvSpPr>
        <p:spPr>
          <a:xfrm>
            <a:off x="6163056" y="3456432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OKR, стратегия, фин. модель, управленческая отчётность</a:t>
            </a:r>
            <a:endParaRPr lang="en-US" sz="900" dirty="0"/>
          </a:p>
        </p:txBody>
      </p:sp>
      <p:sp>
        <p:nvSpPr>
          <p:cNvPr id="53" name="Shape 43"/>
          <p:cNvSpPr/>
          <p:nvPr/>
        </p:nvSpPr>
        <p:spPr>
          <a:xfrm>
            <a:off x="6163056" y="4361688"/>
            <a:ext cx="1901952" cy="219456"/>
          </a:xfrm>
          <a:prstGeom prst="rect">
            <a:avLst/>
          </a:prstGeom>
          <a:solidFill>
            <a:srgbClr val="1E90FF">
              <a:alpha val="15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54" name="Text 44"/>
          <p:cNvSpPr/>
          <p:nvPr/>
        </p:nvSpPr>
        <p:spPr>
          <a:xfrm>
            <a:off x="6163056" y="436168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+47% достижения целей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64592"/>
            <a:ext cx="749808" cy="4206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84048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МЫ РАБОТАЕМ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84048" y="5669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От диагностики до результата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1600200" y="2743200"/>
            <a:ext cx="6400800" cy="0"/>
          </a:xfrm>
          <a:prstGeom prst="line">
            <a:avLst/>
          </a:prstGeom>
          <a:noFill/>
          <a:ln w="25400">
            <a:solidFill>
              <a:srgbClr val="1E90FF">
                <a:alpha val="40000"/>
              </a:srgbClr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1252728" y="2331720"/>
            <a:ext cx="804672" cy="804672"/>
          </a:xfrm>
          <a:prstGeom prst="ellipse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252728" y="2331720"/>
            <a:ext cx="804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84048" y="1188720"/>
            <a:ext cx="1965960" cy="1024128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75488" y="126187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Бесплатная диагностика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75488" y="1627632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Анализируем текущую ситуацию, находим ключевые проблемы и точки роста. 45 минут.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04088" y="3273552"/>
            <a:ext cx="1325880" cy="320040"/>
          </a:xfrm>
          <a:prstGeom prst="roundRect">
            <a:avLst>
              <a:gd name="adj" fmla="val 14286"/>
            </a:avLst>
          </a:prstGeom>
          <a:solidFill>
            <a:srgbClr val="112348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4088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день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401568" y="2331720"/>
            <a:ext cx="804672" cy="804672"/>
          </a:xfrm>
          <a:prstGeom prst="ellipse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401568" y="2331720"/>
            <a:ext cx="804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532888" y="1188720"/>
            <a:ext cx="1965960" cy="1024128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624328" y="126187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Стратегия и план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624328" y="1627632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Разрабатываем roadmap изменений с измеримыми целями и сроками.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2852928" y="3273552"/>
            <a:ext cx="1325880" cy="320040"/>
          </a:xfrm>
          <a:prstGeom prst="roundRect">
            <a:avLst>
              <a:gd name="adj" fmla="val 14286"/>
            </a:avLst>
          </a:prstGeom>
          <a:solidFill>
            <a:srgbClr val="112348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852928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недели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550408" y="2331720"/>
            <a:ext cx="804672" cy="804672"/>
          </a:xfrm>
          <a:prstGeom prst="ellipse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550408" y="2331720"/>
            <a:ext cx="804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681728" y="1188720"/>
            <a:ext cx="1965960" cy="1024128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4773168" y="126187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Внедрение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773168" y="1627632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Реализуем изменения вместе с командой. Мы не исчезаем после презентации.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001768" y="3273552"/>
            <a:ext cx="1325880" cy="320040"/>
          </a:xfrm>
          <a:prstGeom prst="roundRect">
            <a:avLst>
              <a:gd name="adj" fmla="val 14286"/>
            </a:avLst>
          </a:prstGeom>
          <a:solidFill>
            <a:srgbClr val="112348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001768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месяца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699248" y="2331720"/>
            <a:ext cx="804672" cy="804672"/>
          </a:xfrm>
          <a:prstGeom prst="ellipse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699248" y="2331720"/>
            <a:ext cx="804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830568" y="1188720"/>
            <a:ext cx="1965960" cy="1024128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6922008" y="126187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и контроль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922008" y="1627632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Фиксируем результаты, настраиваем систему самоуправления и поддерживаем команду.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150608" y="3273552"/>
            <a:ext cx="1325880" cy="320040"/>
          </a:xfrm>
          <a:prstGeom prst="roundRect">
            <a:avLst>
              <a:gd name="adj" fmla="val 14286"/>
            </a:avLst>
          </a:prstGeom>
          <a:solidFill>
            <a:srgbClr val="112348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150608" y="3273552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384048" y="4023360"/>
            <a:ext cx="8375904" cy="822960"/>
          </a:xfrm>
          <a:prstGeom prst="rect">
            <a:avLst/>
          </a:prstGeom>
          <a:solidFill>
            <a:srgbClr val="112348"/>
          </a:solidFill>
          <a:ln w="12700">
            <a:solidFill>
              <a:srgbClr val="16C78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69664"/>
            <a:ext cx="292608" cy="292608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932688" y="4133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C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результата: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932688" y="441655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через 90 дней не увидите измеримых изменений — возвращаем деньги. Мы уверены в своих методах.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64592"/>
            <a:ext cx="749808" cy="4206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84048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84048" y="5669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Цифры говорят сами за себя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384048" y="1170432"/>
            <a:ext cx="164592" cy="164592"/>
          </a:xfrm>
          <a:prstGeom prst="rect">
            <a:avLst/>
          </a:prstGeom>
          <a:solidFill>
            <a:srgbClr val="7A8BA8"/>
          </a:solidFill>
          <a:ln w="12700">
            <a:solidFill>
              <a:srgbClr val="7A8B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3504" y="115214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работы с нами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743200" y="1170432"/>
            <a:ext cx="164592" cy="164592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62656" y="11521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84048" y="15087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Конверсия продаж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84048" y="1801368"/>
            <a:ext cx="3200400" cy="237744"/>
          </a:xfrm>
          <a:prstGeom prst="rect">
            <a:avLst/>
          </a:prstGeom>
          <a:solidFill>
            <a:srgbClr val="1A2F50"/>
          </a:solidFill>
          <a:ln w="12700">
            <a:solidFill>
              <a:srgbClr val="1A2F5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84048" y="1801368"/>
            <a:ext cx="384048" cy="237744"/>
          </a:xfrm>
          <a:prstGeom prst="rect">
            <a:avLst/>
          </a:prstGeom>
          <a:solidFill>
            <a:srgbClr val="7A8BA8"/>
          </a:solidFill>
          <a:ln w="12700">
            <a:solidFill>
              <a:srgbClr val="7A8B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1783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23360" y="1801368"/>
            <a:ext cx="3200400" cy="237744"/>
          </a:xfrm>
          <a:prstGeom prst="rect">
            <a:avLst/>
          </a:prstGeom>
          <a:solidFill>
            <a:srgbClr val="1A2F50"/>
          </a:solidFill>
          <a:ln w="12700">
            <a:solidFill>
              <a:srgbClr val="1A2F5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23360" y="1801368"/>
            <a:ext cx="672084" cy="237744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50308" y="1783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84048" y="22860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маркетинга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84048" y="2578608"/>
            <a:ext cx="3200400" cy="237744"/>
          </a:xfrm>
          <a:prstGeom prst="rect">
            <a:avLst/>
          </a:prstGeom>
          <a:solidFill>
            <a:srgbClr val="1A2F50"/>
          </a:solidFill>
          <a:ln w="12700">
            <a:solidFill>
              <a:srgbClr val="1A2F5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4048" y="2578608"/>
            <a:ext cx="480060" cy="237744"/>
          </a:xfrm>
          <a:prstGeom prst="rect">
            <a:avLst/>
          </a:prstGeom>
          <a:solidFill>
            <a:srgbClr val="7A8BA8"/>
          </a:solidFill>
          <a:ln w="12700">
            <a:solidFill>
              <a:srgbClr val="7A8BA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8972" y="25603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023360" y="2578608"/>
            <a:ext cx="3200400" cy="237744"/>
          </a:xfrm>
          <a:prstGeom prst="rect">
            <a:avLst/>
          </a:prstGeom>
          <a:solidFill>
            <a:srgbClr val="1A2F50"/>
          </a:solidFill>
          <a:ln w="12700">
            <a:solidFill>
              <a:srgbClr val="1A2F5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023360" y="2578608"/>
            <a:ext cx="864108" cy="237744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42332" y="25603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384048" y="306324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Достижение OKR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84048" y="3355848"/>
            <a:ext cx="3200400" cy="237744"/>
          </a:xfrm>
          <a:prstGeom prst="rect">
            <a:avLst/>
          </a:prstGeom>
          <a:solidFill>
            <a:srgbClr val="1A2F50"/>
          </a:solidFill>
          <a:ln w="12700">
            <a:solidFill>
              <a:srgbClr val="1A2F5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355848"/>
            <a:ext cx="800100" cy="237744"/>
          </a:xfrm>
          <a:prstGeom prst="rect">
            <a:avLst/>
          </a:prstGeom>
          <a:solidFill>
            <a:srgbClr val="7A8BA8"/>
          </a:solidFill>
          <a:ln w="12700">
            <a:solidFill>
              <a:srgbClr val="7A8BA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239012" y="33375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023360" y="3355848"/>
            <a:ext cx="3200400" cy="237744"/>
          </a:xfrm>
          <a:prstGeom prst="rect">
            <a:avLst/>
          </a:prstGeom>
          <a:solidFill>
            <a:srgbClr val="1A2F50"/>
          </a:solidFill>
          <a:ln w="12700">
            <a:solidFill>
              <a:srgbClr val="1A2F5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023360" y="3355848"/>
            <a:ext cx="1216152" cy="237744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294376" y="33375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384048" y="38404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Удовлетворённость команды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84048" y="4133088"/>
            <a:ext cx="3200400" cy="237744"/>
          </a:xfrm>
          <a:prstGeom prst="rect">
            <a:avLst/>
          </a:prstGeom>
          <a:solidFill>
            <a:srgbClr val="1A2F50"/>
          </a:solidFill>
          <a:ln w="12700">
            <a:solidFill>
              <a:srgbClr val="1A2F5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84048" y="4133088"/>
            <a:ext cx="1216152" cy="237744"/>
          </a:xfrm>
          <a:prstGeom prst="rect">
            <a:avLst/>
          </a:prstGeom>
          <a:solidFill>
            <a:srgbClr val="7A8BA8"/>
          </a:solidFill>
          <a:ln w="12700">
            <a:solidFill>
              <a:srgbClr val="7A8BA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655064" y="4114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023360" y="4133088"/>
            <a:ext cx="3200400" cy="237744"/>
          </a:xfrm>
          <a:prstGeom prst="rect">
            <a:avLst/>
          </a:prstGeom>
          <a:solidFill>
            <a:srgbClr val="1A2F50"/>
          </a:solidFill>
          <a:ln w="12700">
            <a:solidFill>
              <a:srgbClr val="1A2F5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023360" y="4133088"/>
            <a:ext cx="2272284" cy="237744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350508" y="4114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71%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3794760" y="1143000"/>
            <a:ext cx="0" cy="3657600"/>
          </a:xfrm>
          <a:prstGeom prst="line">
            <a:avLst/>
          </a:prstGeom>
          <a:noFill/>
          <a:ln w="12700">
            <a:solidFill>
              <a:srgbClr val="1A305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635240" y="1600200"/>
            <a:ext cx="1188720" cy="73152"/>
          </a:xfrm>
          <a:prstGeom prst="rect">
            <a:avLst/>
          </a:prstGeom>
          <a:solidFill>
            <a:srgbClr val="16C784"/>
          </a:solidFill>
          <a:ln w="12700">
            <a:solidFill>
              <a:srgbClr val="16C784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406640" y="1764792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+45%</a:t>
            </a:r>
            <a:endParaRPr lang="en-US" sz="4200" dirty="0"/>
          </a:p>
        </p:txBody>
      </p:sp>
      <p:sp>
        <p:nvSpPr>
          <p:cNvPr id="41" name="Text 38"/>
          <p:cNvSpPr/>
          <p:nvPr/>
        </p:nvSpPr>
        <p:spPr>
          <a:xfrm>
            <a:off x="7406640" y="267919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 рост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выручки клиентов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7498080" y="3337560"/>
            <a:ext cx="1280160" cy="0"/>
          </a:xfrm>
          <a:prstGeom prst="line">
            <a:avLst/>
          </a:prstGeom>
          <a:noFill/>
          <a:ln w="12700">
            <a:solidFill>
              <a:srgbClr val="1A305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35240" y="3474720"/>
            <a:ext cx="1188720" cy="73152"/>
          </a:xfrm>
          <a:prstGeom prst="rect">
            <a:avLst/>
          </a:prstGeom>
          <a:solidFill>
            <a:srgbClr val="16C784"/>
          </a:solidFill>
          <a:ln w="12700">
            <a:solidFill>
              <a:srgbClr val="16C78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06640" y="3639312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мес</a:t>
            </a:r>
            <a:endParaRPr lang="en-US" sz="3200" dirty="0"/>
          </a:p>
        </p:txBody>
      </p:sp>
      <p:sp>
        <p:nvSpPr>
          <p:cNvPr id="45" name="Text 42"/>
          <p:cNvSpPr/>
          <p:nvPr/>
        </p:nvSpPr>
        <p:spPr>
          <a:xfrm>
            <a:off x="7406640" y="427939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 выхода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результат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384048" y="4828032"/>
            <a:ext cx="8375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Данные по проектам за 2022-2024. Результаты индивидуальны.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64592"/>
            <a:ext cx="749808" cy="4206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84048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МЫ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84048" y="56692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Чем мы отличаемся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от других консультантов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384048" y="1572768"/>
            <a:ext cx="3291840" cy="45720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15727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840480" y="1572768"/>
            <a:ext cx="2286000" cy="45720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840480" y="157276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Другие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консультанты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309360" y="1572768"/>
            <a:ext cx="2286000" cy="45720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09360" y="157276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ГОЛУБЕВ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КОНСАЛТИНГ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84048" y="2075688"/>
            <a:ext cx="3291840" cy="438912"/>
          </a:xfrm>
          <a:prstGeom prst="rect">
            <a:avLst/>
          </a:prstGeom>
          <a:solidFill>
            <a:srgbClr val="0D1F3C"/>
          </a:solidFill>
          <a:ln w="12700">
            <a:solidFill>
              <a:srgbClr val="1A305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0352" y="207568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Работают «под ключ»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840480" y="2075688"/>
            <a:ext cx="2286000" cy="438912"/>
          </a:xfrm>
          <a:prstGeom prst="rect">
            <a:avLst/>
          </a:prstGeom>
          <a:solidFill>
            <a:srgbClr val="0D1F3C"/>
          </a:solidFill>
          <a:ln w="12700">
            <a:solidFill>
              <a:srgbClr val="1A305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40480" y="207568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309360" y="2075688"/>
            <a:ext cx="2286000" cy="438912"/>
          </a:xfrm>
          <a:prstGeom prst="rect">
            <a:avLst/>
          </a:prstGeom>
          <a:solidFill>
            <a:srgbClr val="0D2145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2185416"/>
            <a:ext cx="219456" cy="21945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84048" y="2532888"/>
            <a:ext cx="3291840" cy="438912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30352" y="253288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Внедряют, а не советуют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3840480" y="2532888"/>
            <a:ext cx="2286000" cy="438912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3840480" y="253288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6309360" y="2532888"/>
            <a:ext cx="2286000" cy="438912"/>
          </a:xfrm>
          <a:prstGeom prst="rect">
            <a:avLst/>
          </a:prstGeom>
          <a:solidFill>
            <a:srgbClr val="0A1A38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642616"/>
            <a:ext cx="219456" cy="21945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384048" y="2990088"/>
            <a:ext cx="3291840" cy="438912"/>
          </a:xfrm>
          <a:prstGeom prst="rect">
            <a:avLst/>
          </a:prstGeom>
          <a:solidFill>
            <a:srgbClr val="0D1F3C"/>
          </a:solidFill>
          <a:ln w="12700">
            <a:solidFill>
              <a:srgbClr val="1A3058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530352" y="299008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результата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840480" y="2990088"/>
            <a:ext cx="2286000" cy="438912"/>
          </a:xfrm>
          <a:prstGeom prst="rect">
            <a:avLst/>
          </a:prstGeom>
          <a:solidFill>
            <a:srgbClr val="0D1F3C"/>
          </a:solidFill>
          <a:ln w="12700">
            <a:solidFill>
              <a:srgbClr val="1A3058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3840480" y="299008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8" name="Shape 23"/>
          <p:cNvSpPr/>
          <p:nvPr/>
        </p:nvSpPr>
        <p:spPr>
          <a:xfrm>
            <a:off x="6309360" y="2990088"/>
            <a:ext cx="2286000" cy="438912"/>
          </a:xfrm>
          <a:prstGeom prst="rect">
            <a:avLst/>
          </a:prstGeom>
          <a:solidFill>
            <a:srgbClr val="0D2145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3099816"/>
            <a:ext cx="219456" cy="219456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384048" y="3447288"/>
            <a:ext cx="3291840" cy="438912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30352" y="344728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Комплексный подход (9 направлений)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3840480" y="3447288"/>
            <a:ext cx="2286000" cy="438912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3840480" y="344728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4" name="Shape 28"/>
          <p:cNvSpPr/>
          <p:nvPr/>
        </p:nvSpPr>
        <p:spPr>
          <a:xfrm>
            <a:off x="6309360" y="3447288"/>
            <a:ext cx="2286000" cy="438912"/>
          </a:xfrm>
          <a:prstGeom prst="rect">
            <a:avLst/>
          </a:prstGeom>
          <a:solidFill>
            <a:srgbClr val="0A1A38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3557016"/>
            <a:ext cx="219456" cy="219456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384048" y="3904488"/>
            <a:ext cx="3291840" cy="438912"/>
          </a:xfrm>
          <a:prstGeom prst="rect">
            <a:avLst/>
          </a:prstGeom>
          <a:solidFill>
            <a:srgbClr val="0D1F3C"/>
          </a:solidFill>
          <a:ln w="12700">
            <a:solidFill>
              <a:srgbClr val="1A3058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530352" y="390448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Опыт в МСБ России и СНГ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3840480" y="3904488"/>
            <a:ext cx="2286000" cy="438912"/>
          </a:xfrm>
          <a:prstGeom prst="rect">
            <a:avLst/>
          </a:prstGeom>
          <a:solidFill>
            <a:srgbClr val="0D1F3C"/>
          </a:solidFill>
          <a:ln w="12700">
            <a:solidFill>
              <a:srgbClr val="1A3058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3840480" y="390448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0" name="Shape 33"/>
          <p:cNvSpPr/>
          <p:nvPr/>
        </p:nvSpPr>
        <p:spPr>
          <a:xfrm>
            <a:off x="6309360" y="3904488"/>
            <a:ext cx="2286000" cy="438912"/>
          </a:xfrm>
          <a:prstGeom prst="rect">
            <a:avLst/>
          </a:prstGeom>
          <a:solidFill>
            <a:srgbClr val="0D2145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0" y="4014216"/>
            <a:ext cx="219456" cy="219456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384048" y="4361688"/>
            <a:ext cx="3291840" cy="438912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530352" y="436168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Поддержка после внедрения</a:t>
            </a:r>
            <a:endParaRPr lang="en-US" sz="1100" dirty="0"/>
          </a:p>
        </p:txBody>
      </p:sp>
      <p:sp>
        <p:nvSpPr>
          <p:cNvPr id="44" name="Shape 36"/>
          <p:cNvSpPr/>
          <p:nvPr/>
        </p:nvSpPr>
        <p:spPr>
          <a:xfrm>
            <a:off x="3840480" y="4361688"/>
            <a:ext cx="2286000" cy="438912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</p:spPr>
      </p:sp>
      <p:sp>
        <p:nvSpPr>
          <p:cNvPr id="45" name="Text 37"/>
          <p:cNvSpPr/>
          <p:nvPr/>
        </p:nvSpPr>
        <p:spPr>
          <a:xfrm>
            <a:off x="3840480" y="436168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6" name="Shape 38"/>
          <p:cNvSpPr/>
          <p:nvPr/>
        </p:nvSpPr>
        <p:spPr>
          <a:xfrm>
            <a:off x="6309360" y="4361688"/>
            <a:ext cx="2286000" cy="438912"/>
          </a:xfrm>
          <a:prstGeom prst="rect">
            <a:avLst/>
          </a:prstGeom>
          <a:solidFill>
            <a:srgbClr val="0A1A38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3760" y="4471416"/>
            <a:ext cx="219456" cy="2194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64592"/>
            <a:ext cx="749808" cy="4206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84048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КЛИЕНТЫ О НАС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84048" y="5669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Реальные компании — реальные результаты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274320" y="1170432"/>
            <a:ext cx="2788920" cy="370332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1170432"/>
            <a:ext cx="2788920" cy="54864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298448"/>
            <a:ext cx="201168" cy="201168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1298448"/>
            <a:ext cx="201168" cy="201168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1298448"/>
            <a:ext cx="201168" cy="201168"/>
          </a:xfrm>
          <a:prstGeom prst="rect">
            <a:avLst/>
          </a:prstGeom>
        </p:spPr>
      </p:pic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7008" y="1298448"/>
            <a:ext cx="201168" cy="201168"/>
          </a:xfrm>
          <a:prstGeom prst="rect">
            <a:avLst/>
          </a:prstGeom>
        </p:spPr>
      </p:pic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1298448"/>
            <a:ext cx="201168" cy="201168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402336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❝</a:t>
            </a:r>
            <a:endParaRPr lang="en-US" sz="2800" dirty="0"/>
          </a:p>
        </p:txBody>
      </p:sp>
      <p:sp>
        <p:nvSpPr>
          <p:cNvPr id="14" name="Text 6"/>
          <p:cNvSpPr/>
          <p:nvPr/>
        </p:nvSpPr>
        <p:spPr>
          <a:xfrm>
            <a:off x="438912" y="1920240"/>
            <a:ext cx="24871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3 месяца работы выручка выросла на 47%. Наконец-то у нас есть нормальная CRM и менеджеры понимают, что делать каждый день.</a:t>
            </a:r>
            <a:endParaRPr lang="en-US" sz="1100" dirty="0"/>
          </a:p>
        </p:txBody>
      </p:sp>
      <p:sp>
        <p:nvSpPr>
          <p:cNvPr id="15" name="Shape 7"/>
          <p:cNvSpPr/>
          <p:nvPr/>
        </p:nvSpPr>
        <p:spPr>
          <a:xfrm>
            <a:off x="438912" y="3429000"/>
            <a:ext cx="2487168" cy="292608"/>
          </a:xfrm>
          <a:prstGeom prst="roundRect">
            <a:avLst>
              <a:gd name="adj" fmla="val 18750"/>
            </a:avLst>
          </a:prstGeom>
          <a:solidFill>
            <a:srgbClr val="1E90FF">
              <a:alpha val="15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438912" y="3429000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+47% выручка</a:t>
            </a:r>
            <a:endParaRPr lang="en-US" sz="1100" dirty="0"/>
          </a:p>
        </p:txBody>
      </p:sp>
      <p:sp>
        <p:nvSpPr>
          <p:cNvPr id="17" name="Shape 9"/>
          <p:cNvSpPr/>
          <p:nvPr/>
        </p:nvSpPr>
        <p:spPr>
          <a:xfrm>
            <a:off x="438912" y="3840480"/>
            <a:ext cx="2487168" cy="0"/>
          </a:xfrm>
          <a:prstGeom prst="line">
            <a:avLst/>
          </a:prstGeom>
          <a:noFill/>
          <a:ln w="12700">
            <a:solidFill>
              <a:srgbClr val="1A3058"/>
            </a:solidFill>
            <a:prstDash val="solid"/>
          </a:ln>
        </p:spPr>
      </p:sp>
      <p:sp>
        <p:nvSpPr>
          <p:cNvPr id="18" name="Text 10"/>
          <p:cNvSpPr/>
          <p:nvPr/>
        </p:nvSpPr>
        <p:spPr>
          <a:xfrm>
            <a:off x="438912" y="3895344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Алексей К.</a:t>
            </a:r>
            <a:endParaRPr lang="en-US" sz="1100" dirty="0"/>
          </a:p>
        </p:txBody>
      </p:sp>
      <p:sp>
        <p:nvSpPr>
          <p:cNvPr id="19" name="Text 11"/>
          <p:cNvSpPr/>
          <p:nvPr/>
        </p:nvSpPr>
        <p:spPr>
          <a:xfrm>
            <a:off x="438912" y="4160520"/>
            <a:ext cx="24871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Директор, строительная компания</a:t>
            </a:r>
            <a:endParaRPr lang="en-US" sz="900" dirty="0"/>
          </a:p>
        </p:txBody>
      </p:sp>
      <p:sp>
        <p:nvSpPr>
          <p:cNvPr id="20" name="Shape 12"/>
          <p:cNvSpPr/>
          <p:nvPr/>
        </p:nvSpPr>
        <p:spPr>
          <a:xfrm>
            <a:off x="3264408" y="1170432"/>
            <a:ext cx="2788920" cy="370332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3"/>
          <p:cNvSpPr/>
          <p:nvPr/>
        </p:nvSpPr>
        <p:spPr>
          <a:xfrm>
            <a:off x="3264408" y="1170432"/>
            <a:ext cx="2788920" cy="54864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9000" y="1298448"/>
            <a:ext cx="201168" cy="201168"/>
          </a:xfrm>
          <a:prstGeom prst="rect">
            <a:avLst/>
          </a:prstGeom>
        </p:spPr>
      </p:pic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85032" y="1298448"/>
            <a:ext cx="201168" cy="201168"/>
          </a:xfrm>
          <a:prstGeom prst="rect">
            <a:avLst/>
          </a:prstGeom>
        </p:spPr>
      </p:pic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41064" y="1298448"/>
            <a:ext cx="201168" cy="201168"/>
          </a:xfrm>
          <a:prstGeom prst="rect">
            <a:avLst/>
          </a:prstGeom>
        </p:spPr>
      </p:pic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7096" y="1298448"/>
            <a:ext cx="201168" cy="201168"/>
          </a:xfrm>
          <a:prstGeom prst="rect">
            <a:avLst/>
          </a:prstGeom>
        </p:spPr>
      </p:pic>
      <p:pic>
        <p:nvPicPr>
          <p:cNvPr id="2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53128" y="1298448"/>
            <a:ext cx="201168" cy="201168"/>
          </a:xfrm>
          <a:prstGeom prst="rect">
            <a:avLst/>
          </a:prstGeom>
        </p:spPr>
      </p:pic>
      <p:sp>
        <p:nvSpPr>
          <p:cNvPr id="27" name="Text 14"/>
          <p:cNvSpPr/>
          <p:nvPr/>
        </p:nvSpPr>
        <p:spPr>
          <a:xfrm>
            <a:off x="3392424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❝</a:t>
            </a:r>
            <a:endParaRPr lang="en-US" sz="2800" dirty="0"/>
          </a:p>
        </p:txBody>
      </p:sp>
      <p:sp>
        <p:nvSpPr>
          <p:cNvPr id="28" name="Text 15"/>
          <p:cNvSpPr/>
          <p:nvPr/>
        </p:nvSpPr>
        <p:spPr>
          <a:xfrm>
            <a:off x="3429000" y="1920240"/>
            <a:ext cx="24871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Описали все процессы, ввели регламенты. Теперь бизнес работает без моего постоянного участия. Я наконец могу заниматься стратегией.</a:t>
            </a:r>
            <a:endParaRPr lang="en-US" sz="1100" dirty="0"/>
          </a:p>
        </p:txBody>
      </p:sp>
      <p:sp>
        <p:nvSpPr>
          <p:cNvPr id="29" name="Shape 16"/>
          <p:cNvSpPr/>
          <p:nvPr/>
        </p:nvSpPr>
        <p:spPr>
          <a:xfrm>
            <a:off x="3429000" y="3429000"/>
            <a:ext cx="2487168" cy="292608"/>
          </a:xfrm>
          <a:prstGeom prst="roundRect">
            <a:avLst>
              <a:gd name="adj" fmla="val 18750"/>
            </a:avLst>
          </a:prstGeom>
          <a:solidFill>
            <a:srgbClr val="1E90FF">
              <a:alpha val="15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30" name="Text 17"/>
          <p:cNvSpPr/>
          <p:nvPr/>
        </p:nvSpPr>
        <p:spPr>
          <a:xfrm>
            <a:off x="3429000" y="3429000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−80% зависимость</a:t>
            </a:r>
            <a:endParaRPr lang="en-US" sz="1100" dirty="0"/>
          </a:p>
        </p:txBody>
      </p:sp>
      <p:sp>
        <p:nvSpPr>
          <p:cNvPr id="31" name="Shape 18"/>
          <p:cNvSpPr/>
          <p:nvPr/>
        </p:nvSpPr>
        <p:spPr>
          <a:xfrm>
            <a:off x="3429000" y="3840480"/>
            <a:ext cx="2487168" cy="0"/>
          </a:xfrm>
          <a:prstGeom prst="line">
            <a:avLst/>
          </a:prstGeom>
          <a:noFill/>
          <a:ln w="12700">
            <a:solidFill>
              <a:srgbClr val="1A3058"/>
            </a:solidFill>
            <a:prstDash val="solid"/>
          </a:ln>
        </p:spPr>
      </p:sp>
      <p:sp>
        <p:nvSpPr>
          <p:cNvPr id="32" name="Text 19"/>
          <p:cNvSpPr/>
          <p:nvPr/>
        </p:nvSpPr>
        <p:spPr>
          <a:xfrm>
            <a:off x="3429000" y="3895344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Марина В.</a:t>
            </a:r>
            <a:endParaRPr lang="en-US" sz="1100" dirty="0"/>
          </a:p>
        </p:txBody>
      </p:sp>
      <p:sp>
        <p:nvSpPr>
          <p:cNvPr id="33" name="Text 20"/>
          <p:cNvSpPr/>
          <p:nvPr/>
        </p:nvSpPr>
        <p:spPr>
          <a:xfrm>
            <a:off x="3429000" y="4160520"/>
            <a:ext cx="24871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Собственник, сеть кофеен</a:t>
            </a:r>
            <a:endParaRPr lang="en-US" sz="900" dirty="0"/>
          </a:p>
        </p:txBody>
      </p:sp>
      <p:sp>
        <p:nvSpPr>
          <p:cNvPr id="34" name="Shape 21"/>
          <p:cNvSpPr/>
          <p:nvPr/>
        </p:nvSpPr>
        <p:spPr>
          <a:xfrm>
            <a:off x="6254496" y="1170432"/>
            <a:ext cx="2788920" cy="370332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35" name="Shape 22"/>
          <p:cNvSpPr/>
          <p:nvPr/>
        </p:nvSpPr>
        <p:spPr>
          <a:xfrm>
            <a:off x="6254496" y="1170432"/>
            <a:ext cx="2788920" cy="54864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3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9088" y="1298448"/>
            <a:ext cx="201168" cy="201168"/>
          </a:xfrm>
          <a:prstGeom prst="rect">
            <a:avLst/>
          </a:prstGeom>
        </p:spPr>
      </p:pic>
      <p:pic>
        <p:nvPicPr>
          <p:cNvPr id="3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75120" y="1298448"/>
            <a:ext cx="201168" cy="201168"/>
          </a:xfrm>
          <a:prstGeom prst="rect">
            <a:avLst/>
          </a:prstGeom>
        </p:spPr>
      </p:pic>
      <p:pic>
        <p:nvPicPr>
          <p:cNvPr id="3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31152" y="1298448"/>
            <a:ext cx="201168" cy="201168"/>
          </a:xfrm>
          <a:prstGeom prst="rect">
            <a:avLst/>
          </a:prstGeom>
        </p:spPr>
      </p:pic>
      <p:pic>
        <p:nvPicPr>
          <p:cNvPr id="3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87184" y="1298448"/>
            <a:ext cx="201168" cy="201168"/>
          </a:xfrm>
          <a:prstGeom prst="rect">
            <a:avLst/>
          </a:prstGeom>
        </p:spPr>
      </p:pic>
      <p:pic>
        <p:nvPicPr>
          <p:cNvPr id="40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43216" y="1298448"/>
            <a:ext cx="201168" cy="201168"/>
          </a:xfrm>
          <a:prstGeom prst="rect">
            <a:avLst/>
          </a:prstGeom>
        </p:spPr>
      </p:pic>
      <p:sp>
        <p:nvSpPr>
          <p:cNvPr id="41" name="Text 23"/>
          <p:cNvSpPr/>
          <p:nvPr/>
        </p:nvSpPr>
        <p:spPr>
          <a:xfrm>
            <a:off x="6382512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❝</a:t>
            </a:r>
            <a:endParaRPr lang="en-US" sz="2800" dirty="0"/>
          </a:p>
        </p:txBody>
      </p:sp>
      <p:sp>
        <p:nvSpPr>
          <p:cNvPr id="42" name="Text 24"/>
          <p:cNvSpPr/>
          <p:nvPr/>
        </p:nvSpPr>
        <p:spPr>
          <a:xfrm>
            <a:off x="6419088" y="1920240"/>
            <a:ext cx="248716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Маркетинговый бюджет сократили на 20%, а лидов стало в 2 раза больше. Оказалось, половина каналов просто сжигала деньги.</a:t>
            </a:r>
            <a:endParaRPr lang="en-US" sz="1100" dirty="0"/>
          </a:p>
        </p:txBody>
      </p:sp>
      <p:sp>
        <p:nvSpPr>
          <p:cNvPr id="43" name="Shape 25"/>
          <p:cNvSpPr/>
          <p:nvPr/>
        </p:nvSpPr>
        <p:spPr>
          <a:xfrm>
            <a:off x="6419088" y="3429000"/>
            <a:ext cx="2487168" cy="292608"/>
          </a:xfrm>
          <a:prstGeom prst="roundRect">
            <a:avLst>
              <a:gd name="adj" fmla="val 18750"/>
            </a:avLst>
          </a:prstGeom>
          <a:solidFill>
            <a:srgbClr val="1E90FF">
              <a:alpha val="15000"/>
            </a:srgbClr>
          </a:solidFill>
          <a:ln w="12700">
            <a:solidFill>
              <a:srgbClr val="1E90FF">
                <a:alpha val="30000"/>
              </a:srgbClr>
            </a:solidFill>
            <a:prstDash val="solid"/>
          </a:ln>
        </p:spPr>
      </p:sp>
      <p:sp>
        <p:nvSpPr>
          <p:cNvPr id="44" name="Text 26"/>
          <p:cNvSpPr/>
          <p:nvPr/>
        </p:nvSpPr>
        <p:spPr>
          <a:xfrm>
            <a:off x="6419088" y="3429000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 лиды</a:t>
            </a:r>
            <a:endParaRPr lang="en-US" sz="1100" dirty="0"/>
          </a:p>
        </p:txBody>
      </p:sp>
      <p:sp>
        <p:nvSpPr>
          <p:cNvPr id="45" name="Shape 27"/>
          <p:cNvSpPr/>
          <p:nvPr/>
        </p:nvSpPr>
        <p:spPr>
          <a:xfrm>
            <a:off x="6419088" y="3840480"/>
            <a:ext cx="2487168" cy="0"/>
          </a:xfrm>
          <a:prstGeom prst="line">
            <a:avLst/>
          </a:prstGeom>
          <a:noFill/>
          <a:ln w="12700">
            <a:solidFill>
              <a:srgbClr val="1A3058"/>
            </a:solidFill>
            <a:prstDash val="solid"/>
          </a:ln>
        </p:spPr>
      </p:sp>
      <p:sp>
        <p:nvSpPr>
          <p:cNvPr id="46" name="Text 28"/>
          <p:cNvSpPr/>
          <p:nvPr/>
        </p:nvSpPr>
        <p:spPr>
          <a:xfrm>
            <a:off x="6419088" y="3895344"/>
            <a:ext cx="2487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Дмитрий Н.</a:t>
            </a:r>
            <a:endParaRPr lang="en-US" sz="1100" dirty="0"/>
          </a:p>
        </p:txBody>
      </p:sp>
      <p:sp>
        <p:nvSpPr>
          <p:cNvPr id="47" name="Text 29"/>
          <p:cNvSpPr/>
          <p:nvPr/>
        </p:nvSpPr>
        <p:spPr>
          <a:xfrm>
            <a:off x="6419088" y="4160520"/>
            <a:ext cx="24871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CEO, IT-компания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64592"/>
            <a:ext cx="749808" cy="4206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84048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ПРЕДЛОЖЕНИЕ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384048" y="5669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С чего начать работу с нами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274320" y="1170432"/>
            <a:ext cx="2788920" cy="374904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38912" y="1280160"/>
            <a:ext cx="1417320" cy="256032"/>
          </a:xfrm>
          <a:prstGeom prst="roundRect">
            <a:avLst>
              <a:gd name="adj" fmla="val 17857"/>
            </a:avLst>
          </a:prstGeom>
          <a:solidFill>
            <a:srgbClr val="7A8BA8">
              <a:alpha val="20000"/>
            </a:srgbClr>
          </a:solidFill>
          <a:ln w="12700">
            <a:solidFill>
              <a:srgbClr val="7A8BA8">
                <a:alpha val="5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8912" y="128016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38912" y="1627632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Диагностика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38912" y="2029968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BF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Бесплатно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38912" y="2423160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Бесплатная экспресс-диагностика бизнеса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38912" y="2834640"/>
            <a:ext cx="2487168" cy="0"/>
          </a:xfrm>
          <a:prstGeom prst="line">
            <a:avLst/>
          </a:prstGeom>
          <a:noFill/>
          <a:ln w="12700">
            <a:solidFill>
              <a:srgbClr val="1A305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907792"/>
            <a:ext cx="164592" cy="16459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6656" y="2889504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45-минутная сессия</a:t>
            </a:r>
            <a:endParaRPr lang="en-US" sz="10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236976"/>
            <a:ext cx="164592" cy="16459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76656" y="321868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Выявление ключевых проблем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3566160"/>
            <a:ext cx="164592" cy="16459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76656" y="354787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точек роста</a:t>
            </a:r>
            <a:endParaRPr lang="en-US" sz="10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3895344"/>
            <a:ext cx="164592" cy="16459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76656" y="387705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Рекомендации к действию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438912" y="4462272"/>
            <a:ext cx="2487168" cy="347472"/>
          </a:xfrm>
          <a:prstGeom prst="roundRect">
            <a:avLst>
              <a:gd name="adj" fmla="val 18421"/>
            </a:avLst>
          </a:prstGeom>
          <a:solidFill>
            <a:srgbClr val="1A3058"/>
          </a:solidFill>
          <a:ln w="12700">
            <a:solidFill>
              <a:srgbClr val="7A8BA8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438912" y="4462272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Записаться бесплатно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3264408" y="1170432"/>
            <a:ext cx="2788920" cy="3749040"/>
          </a:xfrm>
          <a:prstGeom prst="rect">
            <a:avLst/>
          </a:prstGeom>
          <a:solidFill>
            <a:srgbClr val="0D1F3C"/>
          </a:solidFill>
          <a:ln w="25400">
            <a:solidFill>
              <a:srgbClr val="1E90FF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3264408" y="1170432"/>
            <a:ext cx="2788920" cy="64008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3429000" y="1280160"/>
            <a:ext cx="1417320" cy="256032"/>
          </a:xfrm>
          <a:prstGeom prst="roundRect">
            <a:avLst>
              <a:gd name="adj" fmla="val 17857"/>
            </a:avLst>
          </a:prstGeom>
          <a:solidFill>
            <a:srgbClr val="1E90FF">
              <a:alpha val="20000"/>
            </a:srgbClr>
          </a:solidFill>
          <a:ln w="12700">
            <a:solidFill>
              <a:srgbClr val="1E90FF">
                <a:alpha val="50000"/>
              </a:srgbClr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3429000" y="128016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ПОПУЛЯРНЫЙ</a:t>
            </a:r>
            <a:endParaRPr lang="en-US" sz="800" dirty="0"/>
          </a:p>
        </p:txBody>
      </p:sp>
      <p:sp>
        <p:nvSpPr>
          <p:cNvPr id="27" name="Text 20"/>
          <p:cNvSpPr/>
          <p:nvPr/>
        </p:nvSpPr>
        <p:spPr>
          <a:xfrm>
            <a:off x="3429000" y="1627632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Проект</a:t>
            </a:r>
            <a:endParaRPr lang="en-US" sz="1800" dirty="0"/>
          </a:p>
        </p:txBody>
      </p:sp>
      <p:sp>
        <p:nvSpPr>
          <p:cNvPr id="28" name="Text 21"/>
          <p:cNvSpPr/>
          <p:nvPr/>
        </p:nvSpPr>
        <p:spPr>
          <a:xfrm>
            <a:off x="3429000" y="2029968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90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от 250 000 ₽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3429000" y="2423160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Комплексная работа по одному или нескольким направлениям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3429000" y="2834640"/>
            <a:ext cx="2487168" cy="0"/>
          </a:xfrm>
          <a:prstGeom prst="line">
            <a:avLst/>
          </a:prstGeom>
          <a:noFill/>
          <a:ln w="12700">
            <a:solidFill>
              <a:srgbClr val="1A3058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2907792"/>
            <a:ext cx="164592" cy="16459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3666744" y="2889504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аудит направления</a:t>
            </a:r>
            <a:endParaRPr lang="en-US" sz="10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9000" y="3236976"/>
            <a:ext cx="164592" cy="1645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3666744" y="321868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Стратегия и план внедрения</a:t>
            </a:r>
            <a:endParaRPr lang="en-US" sz="10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566160"/>
            <a:ext cx="164592" cy="164592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3666744" y="354787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Сопровождение реализации</a:t>
            </a:r>
            <a:endParaRPr lang="en-US" sz="10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29000" y="3895344"/>
            <a:ext cx="164592" cy="164592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3666744" y="387705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команды</a:t>
            </a:r>
            <a:endParaRPr lang="en-US" sz="10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29000" y="4224528"/>
            <a:ext cx="164592" cy="164592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3666744" y="420624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результата</a:t>
            </a:r>
            <a:endParaRPr lang="en-US" sz="1000" dirty="0"/>
          </a:p>
        </p:txBody>
      </p:sp>
      <p:sp>
        <p:nvSpPr>
          <p:cNvPr id="41" name="Shape 29"/>
          <p:cNvSpPr/>
          <p:nvPr/>
        </p:nvSpPr>
        <p:spPr>
          <a:xfrm>
            <a:off x="3429000" y="4462272"/>
            <a:ext cx="2487168" cy="347472"/>
          </a:xfrm>
          <a:prstGeom prst="roundRect">
            <a:avLst>
              <a:gd name="adj" fmla="val 18421"/>
            </a:avLst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42" name="Text 30"/>
          <p:cNvSpPr/>
          <p:nvPr/>
        </p:nvSpPr>
        <p:spPr>
          <a:xfrm>
            <a:off x="3429000" y="4462272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Обсудить проект</a:t>
            </a:r>
            <a:endParaRPr lang="en-US" sz="1000" dirty="0"/>
          </a:p>
        </p:txBody>
      </p:sp>
      <p:sp>
        <p:nvSpPr>
          <p:cNvPr id="43" name="Shape 31"/>
          <p:cNvSpPr/>
          <p:nvPr/>
        </p:nvSpPr>
        <p:spPr>
          <a:xfrm>
            <a:off x="6254496" y="1170432"/>
            <a:ext cx="2788920" cy="374904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sp>
        <p:nvSpPr>
          <p:cNvPr id="44" name="Shape 32"/>
          <p:cNvSpPr/>
          <p:nvPr/>
        </p:nvSpPr>
        <p:spPr>
          <a:xfrm>
            <a:off x="6419088" y="1280160"/>
            <a:ext cx="1417320" cy="256032"/>
          </a:xfrm>
          <a:prstGeom prst="roundRect">
            <a:avLst>
              <a:gd name="adj" fmla="val 17857"/>
            </a:avLst>
          </a:prstGeom>
          <a:solidFill>
            <a:srgbClr val="16C784">
              <a:alpha val="20000"/>
            </a:srgbClr>
          </a:solidFill>
          <a:ln w="12700">
            <a:solidFill>
              <a:srgbClr val="16C784">
                <a:alpha val="50000"/>
              </a:srgbClr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6419088" y="128016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C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СТРАТЕГИЯ</a:t>
            </a:r>
            <a:endParaRPr lang="en-US" sz="800" dirty="0"/>
          </a:p>
        </p:txBody>
      </p:sp>
      <p:sp>
        <p:nvSpPr>
          <p:cNvPr id="46" name="Text 34"/>
          <p:cNvSpPr/>
          <p:nvPr/>
        </p:nvSpPr>
        <p:spPr>
          <a:xfrm>
            <a:off x="6419088" y="1627632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Ретейнер</a:t>
            </a:r>
            <a:endParaRPr lang="en-US" sz="1800" dirty="0"/>
          </a:p>
        </p:txBody>
      </p:sp>
      <p:sp>
        <p:nvSpPr>
          <p:cNvPr id="47" name="Text 35"/>
          <p:cNvSpPr/>
          <p:nvPr/>
        </p:nvSpPr>
        <p:spPr>
          <a:xfrm>
            <a:off x="6419088" y="2029968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BF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от 100 000 ₽/мес</a:t>
            </a:r>
            <a:endParaRPr lang="en-US" sz="1500" dirty="0"/>
          </a:p>
        </p:txBody>
      </p:sp>
      <p:sp>
        <p:nvSpPr>
          <p:cNvPr id="48" name="Text 36"/>
          <p:cNvSpPr/>
          <p:nvPr/>
        </p:nvSpPr>
        <p:spPr>
          <a:xfrm>
            <a:off x="6419088" y="2423160"/>
            <a:ext cx="2487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Постоянный бизнес-партнёр для системного роста</a:t>
            </a:r>
            <a:endParaRPr lang="en-US" sz="950" dirty="0"/>
          </a:p>
        </p:txBody>
      </p:sp>
      <p:sp>
        <p:nvSpPr>
          <p:cNvPr id="49" name="Shape 37"/>
          <p:cNvSpPr/>
          <p:nvPr/>
        </p:nvSpPr>
        <p:spPr>
          <a:xfrm>
            <a:off x="6419088" y="2834640"/>
            <a:ext cx="2487168" cy="0"/>
          </a:xfrm>
          <a:prstGeom prst="line">
            <a:avLst/>
          </a:prstGeom>
          <a:noFill/>
          <a:ln w="12700">
            <a:solidFill>
              <a:srgbClr val="1A3058"/>
            </a:solidFill>
            <a:prstDash val="solid"/>
          </a:ln>
        </p:spPr>
      </p:sp>
      <p:pic>
        <p:nvPicPr>
          <p:cNvPr id="5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9088" y="2907792"/>
            <a:ext cx="164592" cy="164592"/>
          </a:xfrm>
          <a:prstGeom prst="rect">
            <a:avLst/>
          </a:prstGeom>
        </p:spPr>
      </p:pic>
      <p:sp>
        <p:nvSpPr>
          <p:cNvPr id="51" name="Text 38"/>
          <p:cNvSpPr/>
          <p:nvPr/>
        </p:nvSpPr>
        <p:spPr>
          <a:xfrm>
            <a:off x="6656832" y="2889504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Еженедельные сессии</a:t>
            </a:r>
            <a:endParaRPr lang="en-US" sz="1000" dirty="0"/>
          </a:p>
        </p:txBody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9088" y="3236976"/>
            <a:ext cx="164592" cy="164592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6656832" y="321868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Трекинг OKR и KPI</a:t>
            </a:r>
            <a:endParaRPr lang="en-US" sz="1000" dirty="0"/>
          </a:p>
        </p:txBody>
      </p:sp>
      <p:pic>
        <p:nvPicPr>
          <p:cNvPr id="5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19088" y="3566160"/>
            <a:ext cx="164592" cy="164592"/>
          </a:xfrm>
          <a:prstGeom prst="rect">
            <a:avLst/>
          </a:prstGeom>
        </p:spPr>
      </p:pic>
      <p:sp>
        <p:nvSpPr>
          <p:cNvPr id="55" name="Text 40"/>
          <p:cNvSpPr/>
          <p:nvPr/>
        </p:nvSpPr>
        <p:spPr>
          <a:xfrm>
            <a:off x="6656832" y="354787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Антикризисная поддержка</a:t>
            </a:r>
            <a:endParaRPr lang="en-US" sz="1000" dirty="0"/>
          </a:p>
        </p:txBody>
      </p:sp>
      <p:pic>
        <p:nvPicPr>
          <p:cNvPr id="5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19088" y="3895344"/>
            <a:ext cx="164592" cy="164592"/>
          </a:xfrm>
          <a:prstGeom prst="rect">
            <a:avLst/>
          </a:prstGeom>
        </p:spPr>
      </p:pic>
      <p:sp>
        <p:nvSpPr>
          <p:cNvPr id="57" name="Text 41"/>
          <p:cNvSpPr/>
          <p:nvPr/>
        </p:nvSpPr>
        <p:spPr>
          <a:xfrm>
            <a:off x="6656832" y="387705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 CRM в подарок</a:t>
            </a:r>
            <a:endParaRPr lang="en-US" sz="1000" dirty="0"/>
          </a:p>
        </p:txBody>
      </p:sp>
      <p:sp>
        <p:nvSpPr>
          <p:cNvPr id="58" name="Shape 42"/>
          <p:cNvSpPr/>
          <p:nvPr/>
        </p:nvSpPr>
        <p:spPr>
          <a:xfrm>
            <a:off x="6419088" y="4462272"/>
            <a:ext cx="2487168" cy="347472"/>
          </a:xfrm>
          <a:prstGeom prst="roundRect">
            <a:avLst>
              <a:gd name="adj" fmla="val 18421"/>
            </a:avLst>
          </a:prstGeom>
          <a:solidFill>
            <a:srgbClr val="1A3058"/>
          </a:solidFill>
          <a:ln w="12700">
            <a:solidFill>
              <a:srgbClr val="7A8BA8"/>
            </a:solidFill>
            <a:prstDash val="solid"/>
          </a:ln>
        </p:spPr>
      </p:sp>
      <p:sp>
        <p:nvSpPr>
          <p:cNvPr id="59" name="Text 43"/>
          <p:cNvSpPr/>
          <p:nvPr/>
        </p:nvSpPr>
        <p:spPr>
          <a:xfrm>
            <a:off x="6419088" y="4462272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Узнать подробнее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457200"/>
            <a:ext cx="3200400" cy="3200400"/>
          </a:xfrm>
          <a:prstGeom prst="ellipse">
            <a:avLst/>
          </a:prstGeom>
          <a:solidFill>
            <a:srgbClr val="1E90FF">
              <a:alpha val="10000"/>
            </a:srgbClr>
          </a:solidFill>
          <a:ln w="12700">
            <a:solidFill>
              <a:srgbClr val="1E90FF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0" y="2286000"/>
            <a:ext cx="2743200" cy="2743200"/>
          </a:xfrm>
          <a:prstGeom prst="ellipse">
            <a:avLst/>
          </a:prstGeom>
          <a:solidFill>
            <a:srgbClr val="1E90FF">
              <a:alpha val="12000"/>
            </a:srgbClr>
          </a:solidFill>
          <a:ln w="12700">
            <a:solidFill>
              <a:srgbClr val="1E90FF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096512" y="164592"/>
            <a:ext cx="950976" cy="950976"/>
          </a:xfrm>
          <a:prstGeom prst="ellipse">
            <a:avLst/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182880"/>
            <a:ext cx="914400" cy="914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096512" y="164592"/>
            <a:ext cx="950976" cy="950976"/>
          </a:xfrm>
          <a:prstGeom prst="ellipse">
            <a:avLst/>
          </a:prstGeom>
          <a:ln w="25400">
            <a:solidFill>
              <a:srgbClr val="1E90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12984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1E9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НАЧНИТЕ ПРЯМО СЕЙЧАС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1664208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Первая консультация —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бесплатно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914400" y="2944368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Запишитесь на бесплатную 45-минутную диагностику вашего бизнеса.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B0B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Уже через неделю вы будете знать, где теряете деньги и что делать.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926080" y="3675888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1E90FF"/>
          </a:solidFill>
          <a:ln w="12700">
            <a:solidFill>
              <a:srgbClr val="1E90FF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5000"/>
              </a:srgbClr>
            </a:outerShdw>
          </a:effectLst>
        </p:spPr>
      </p:sp>
      <p:sp>
        <p:nvSpPr>
          <p:cNvPr id="12" name="Text 9">
            <a:hlinkClick r:id="rId2" tooltip=""/>
          </p:cNvPr>
          <p:cNvSpPr/>
          <p:nvPr/>
        </p:nvSpPr>
        <p:spPr>
          <a:xfrm>
            <a:off x="2926080" y="36758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Записаться на диагностику →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2560320" y="4407408"/>
            <a:ext cx="2560320" cy="50292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912" y="4517136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017520" y="44805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golubev-consulting.ru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669280" y="4407408"/>
            <a:ext cx="2560320" cy="502920"/>
          </a:xfrm>
          <a:prstGeom prst="rect">
            <a:avLst/>
          </a:prstGeom>
          <a:solidFill>
            <a:srgbClr val="112348"/>
          </a:solidFill>
          <a:ln w="12700">
            <a:solidFill>
              <a:srgbClr val="1A305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3872" y="4517136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126480" y="44805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 (926) 169-21-14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457200" y="491947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8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2025 ГОЛУБЕВ КОНСАЛТИНГ · Системный рост вашего бизнеса · golubev-consulting.ru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Голубев Консалтинг — Системный рост бизнеса</dc:title>
  <dc:subject>PptxGenJS Presentation</dc:subject>
  <dc:creator>PptxGenJS</dc:creator>
  <cp:lastModifiedBy>PptxGenJS</cp:lastModifiedBy>
  <cp:revision>1</cp:revision>
  <dcterms:created xsi:type="dcterms:W3CDTF">2026-06-06T16:46:44Z</dcterms:created>
  <dcterms:modified xsi:type="dcterms:W3CDTF">2026-06-06T16:46:44Z</dcterms:modified>
</cp:coreProperties>
</file>